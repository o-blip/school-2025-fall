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171" r:id="rId4"/>
  </p:sldMasterIdLst>
  <p:notesMasterIdLst>
    <p:notesMasterId r:id="rId15"/>
  </p:notesMasterIdLst>
  <p:handoutMasterIdLst>
    <p:handoutMasterId r:id="rId16"/>
  </p:handoutMasterIdLst>
  <p:sldIdLst>
    <p:sldId id="256" r:id="rId5"/>
    <p:sldId id="293" r:id="rId6"/>
    <p:sldId id="268" r:id="rId7"/>
    <p:sldId id="297" r:id="rId8"/>
    <p:sldId id="303" r:id="rId9"/>
    <p:sldId id="300" r:id="rId10"/>
    <p:sldId id="299" r:id="rId11"/>
    <p:sldId id="301" r:id="rId12"/>
    <p:sldId id="304" r:id="rId13"/>
    <p:sldId id="30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3204" autoAdjust="0"/>
  </p:normalViewPr>
  <p:slideViewPr>
    <p:cSldViewPr snapToGrid="0">
      <p:cViewPr>
        <p:scale>
          <a:sx n="66" d="100"/>
          <a:sy n="66" d="100"/>
        </p:scale>
        <p:origin x="1238" y="288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864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C16A5-FAAD-353D-8F9D-69DDE9EF7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85CB7-85B4-69B5-58EA-EF48E8848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1C0F8-C3AA-FA26-6894-844B075BC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DFBC4-4DBE-0EDA-B6E0-59F811D7B0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314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262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807C-8D6B-37A7-6A94-2C368DDF4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251BA-C709-EC04-ACFF-9305738070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27635-9A56-D51C-09F5-ACA8100B1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8B11C-A7DD-2BF3-4937-967F4BCF72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8001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5EFDA-9569-458C-ED13-6393A15C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19DD25-24FA-A4F0-FAAA-380ED41BB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107E3-A1E3-0527-E817-82D507C1C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D3FA3-1780-746F-2C5F-A39CD8C54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2798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4.svg"/><Relationship Id="rId4" Type="http://schemas.openxmlformats.org/officeDocument/2006/relationships/image" Target="../media/image3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10" Type="http://schemas.openxmlformats.org/officeDocument/2006/relationships/image" Target="../media/image5.png"/><Relationship Id="rId4" Type="http://schemas.openxmlformats.org/officeDocument/2006/relationships/image" Target="../media/image23.png"/><Relationship Id="rId9" Type="http://schemas.openxmlformats.org/officeDocument/2006/relationships/image" Target="../media/image1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28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7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82125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212649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935727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88347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23936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836031F-2D1B-C0C8-D51B-6721C508B1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25D20F2-321C-0829-C70D-FFF5218F8B1F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6CE135BE-2E75-AD65-233D-2E8B8E4BB933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C6E952-5AAF-EB5B-0EEE-EE89C48CD04F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6A2802C-722C-FB61-3F6E-7FDC69FCF410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6B066467-36FF-62E4-94B4-807D496603D5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5FCFF44-C4FF-9F01-8E31-C665C85CA9C2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20C9745A-64C0-6776-9935-0EE4A88FF93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98016FD6-92C8-BB50-A745-E8BF9048044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49455B8B-2777-14B9-D8E0-832BCE70B25E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0" name="Group 29">
                      <a:extLst>
                        <a:ext uri="{FF2B5EF4-FFF2-40B4-BE49-F238E27FC236}">
                          <a16:creationId xmlns:a16="http://schemas.microsoft.com/office/drawing/2014/main" id="{6E51A3D8-E37C-1F74-A0C4-04CED0DCE4D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2" name="Group 31">
                        <a:extLst>
                          <a:ext uri="{FF2B5EF4-FFF2-40B4-BE49-F238E27FC236}">
                            <a16:creationId xmlns:a16="http://schemas.microsoft.com/office/drawing/2014/main" id="{E6432B80-A18F-418D-587D-5577DB8B09A6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4" name="Group 33">
                          <a:extLst>
                            <a:ext uri="{FF2B5EF4-FFF2-40B4-BE49-F238E27FC236}">
                              <a16:creationId xmlns:a16="http://schemas.microsoft.com/office/drawing/2014/main" id="{6A159682-BFFB-7D7A-CF2F-011C20FFFF69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6" name="Group 35">
                            <a:extLst>
                              <a:ext uri="{FF2B5EF4-FFF2-40B4-BE49-F238E27FC236}">
                                <a16:creationId xmlns:a16="http://schemas.microsoft.com/office/drawing/2014/main" id="{EA2FCB9C-ED6D-269C-30EA-E6CBB93C3A64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8" name="Oval 37">
                              <a:extLst>
                                <a:ext uri="{FF2B5EF4-FFF2-40B4-BE49-F238E27FC236}">
                                  <a16:creationId xmlns:a16="http://schemas.microsoft.com/office/drawing/2014/main" id="{4E6E91DF-F07E-B2D6-4145-21B3FAA6D02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4E1092A6-4F0B-BBB8-CEA0-BAD21F15B5B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7" name="Oval 36">
                            <a:extLst>
                              <a:ext uri="{FF2B5EF4-FFF2-40B4-BE49-F238E27FC236}">
                                <a16:creationId xmlns:a16="http://schemas.microsoft.com/office/drawing/2014/main" id="{3977D589-F324-F77B-4A67-41A419B8B47D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5" name="Oval 34">
                          <a:extLst>
                            <a:ext uri="{FF2B5EF4-FFF2-40B4-BE49-F238E27FC236}">
                              <a16:creationId xmlns:a16="http://schemas.microsoft.com/office/drawing/2014/main" id="{DDF5A32E-0872-3BF5-B6F3-D0C6BD8968E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3" name="Oval 32">
                        <a:extLst>
                          <a:ext uri="{FF2B5EF4-FFF2-40B4-BE49-F238E27FC236}">
                            <a16:creationId xmlns:a16="http://schemas.microsoft.com/office/drawing/2014/main" id="{38E28BE0-FDB1-BB83-E96D-0B8A611876CC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DBEAC770-9B6B-D62A-00C1-E6D2C6E10DDE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5FD8DB94-4EDA-0B4D-A345-E49CE04DA47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F1F30994-9B26-5EDE-2E78-B2BEC6F84B7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82B3216-714A-E953-3A09-0490D56B68CF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694DDA17-1977-6D00-8A19-4C12D8337D32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D4F4EA65-AA63-15ED-7D93-9FA0ECC059F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1F272937-2644-1B54-800F-8C44F03D72E0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09FE3BF-A6F1-ED24-1BF6-F2F78761F0DA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CF6DAA6-38F3-EE83-DBED-951EC3394830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35FECF99-2BE0-D899-89AF-DFDB992D1FD1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5E40626-1C01-CB90-3122-8CBAAF3C22F3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CB193BE-1F05-3AEA-B887-607FC8115670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A2F32155-3558-9319-9BE0-299AF472E8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BE24CACC-5512-2514-B8C9-09D94DF80CB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CA34979-127F-A597-CC2D-6113816D0F2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5252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434608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96277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258551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4307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1114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834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>
          <p15:clr>
            <a:srgbClr val="FBAE40"/>
          </p15:clr>
        </p15:guide>
        <p15:guide id="2" pos="7104">
          <p15:clr>
            <a:srgbClr val="FBAE40"/>
          </p15:clr>
        </p15:guide>
        <p15:guide id="3" pos="739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2470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400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  <p:sldLayoutId id="2147484175" r:id="rId4"/>
    <p:sldLayoutId id="2147484176" r:id="rId5"/>
    <p:sldLayoutId id="2147484177" r:id="rId6"/>
    <p:sldLayoutId id="2147484178" r:id="rId7"/>
    <p:sldLayoutId id="2147484179" r:id="rId8"/>
    <p:sldLayoutId id="2147484180" r:id="rId9"/>
    <p:sldLayoutId id="2147484181" r:id="rId10"/>
    <p:sldLayoutId id="2147484182" r:id="rId11"/>
    <p:sldLayoutId id="2147484183" r:id="rId12"/>
    <p:sldLayoutId id="2147484184" r:id="rId13"/>
    <p:sldLayoutId id="2147483700" r:id="rId14"/>
    <p:sldLayoutId id="2147483666" r:id="rId15"/>
    <p:sldLayoutId id="2147483704" r:id="rId16"/>
    <p:sldLayoutId id="2147483702" r:id="rId17"/>
    <p:sldLayoutId id="2147483678" r:id="rId18"/>
    <p:sldLayoutId id="2147483681" r:id="rId19"/>
    <p:sldLayoutId id="2147483691" r:id="rId20"/>
    <p:sldLayoutId id="2147483699" r:id="rId21"/>
    <p:sldLayoutId id="2147483685" r:id="rId22"/>
    <p:sldLayoutId id="2147483676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5127" y="1165225"/>
            <a:ext cx="7211291" cy="132556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/>
              <a:t>Active tensegrity-based foundation for moonquake rejection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7F9589-4AE2-B9A6-1271-60584E39D420}"/>
              </a:ext>
            </a:extLst>
          </p:cNvPr>
          <p:cNvSpPr txBox="1"/>
          <p:nvPr/>
        </p:nvSpPr>
        <p:spPr>
          <a:xfrm>
            <a:off x="4829789" y="4130045"/>
            <a:ext cx="6594768" cy="19515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40000"/>
              </a:lnSpc>
              <a:spcAft>
                <a:spcPts val="1200"/>
              </a:spcAft>
            </a:pP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Piero Risi Mortola</a:t>
            </a:r>
          </a:p>
          <a:p>
            <a:pPr>
              <a:lnSpc>
                <a:spcPct val="140000"/>
              </a:lnSpc>
              <a:spcAft>
                <a:spcPts val="1200"/>
              </a:spcAft>
            </a:pP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MECE 6388 Optimal Control Theory</a:t>
            </a:r>
          </a:p>
          <a:p>
            <a:pPr>
              <a:lnSpc>
                <a:spcPct val="140000"/>
              </a:lnSpc>
              <a:spcAft>
                <a:spcPts val="1200"/>
              </a:spcAft>
            </a:pP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University of Houston 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A9515-1637-3F86-AB5F-F9CD63E23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C54DA1-37A6-60E1-33E5-D36945B1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pic>
        <p:nvPicPr>
          <p:cNvPr id="23" name="Picture Placeholder 22" descr="A full moon in the sky&#10;&#10;AI-generated content may be incorrect.">
            <a:extLst>
              <a:ext uri="{FF2B5EF4-FFF2-40B4-BE49-F238E27FC236}">
                <a16:creationId xmlns:a16="http://schemas.microsoft.com/office/drawing/2014/main" id="{857BA830-CC7D-7B75-69AE-8258C425DA3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30114" r="30114"/>
          <a:stretch>
            <a:fillRect/>
          </a:stretch>
        </p:blipFill>
        <p:spPr>
          <a:xfrm>
            <a:off x="1011337" y="0"/>
            <a:ext cx="2029967" cy="4859756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882F07-6FA2-E324-1299-7C0F03C8FADE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3463480" y="1939925"/>
            <a:ext cx="7615274" cy="297815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Increased global interest on lunar exploration and permanent lunar 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Minimize weight of lunar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Moon-quakes can be long lasting, often for hours, though much weaker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ABC99-5E02-B8A8-2ACD-967F071C9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3" name="Picture 2" descr="A logo with a letter a and a sphere&#10;&#10;AI-generated content may be incorrect.">
            <a:extLst>
              <a:ext uri="{FF2B5EF4-FFF2-40B4-BE49-F238E27FC236}">
                <a16:creationId xmlns:a16="http://schemas.microsoft.com/office/drawing/2014/main" id="{5443AA45-CB05-E8FE-A06F-5977EA754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7877" y="3886429"/>
            <a:ext cx="1783126" cy="164790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A62B37B-F63E-9E04-0272-C9308B64F42D}"/>
              </a:ext>
            </a:extLst>
          </p:cNvPr>
          <p:cNvGrpSpPr/>
          <p:nvPr/>
        </p:nvGrpSpPr>
        <p:grpSpPr>
          <a:xfrm>
            <a:off x="6600999" y="3429000"/>
            <a:ext cx="4644902" cy="3292475"/>
            <a:chOff x="6509533" y="3641589"/>
            <a:chExt cx="3973524" cy="2816578"/>
          </a:xfrm>
        </p:grpSpPr>
        <p:pic>
          <p:nvPicPr>
            <p:cNvPr id="9" name="Picture 8" descr="A few sound waves showing different types of weather&#10;&#10;AI-generated content may be incorrect.">
              <a:extLst>
                <a:ext uri="{FF2B5EF4-FFF2-40B4-BE49-F238E27FC236}">
                  <a16:creationId xmlns:a16="http://schemas.microsoft.com/office/drawing/2014/main" id="{41741DFF-C2BE-BB4A-039F-6F49DE046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09533" y="3641589"/>
              <a:ext cx="3973524" cy="250469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448688-B342-4E40-374C-00288A7FDFDA}"/>
                </a:ext>
              </a:extLst>
            </p:cNvPr>
            <p:cNvSpPr txBox="1"/>
            <p:nvPr/>
          </p:nvSpPr>
          <p:spPr>
            <a:xfrm>
              <a:off x="6509533" y="6196557"/>
              <a:ext cx="27755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Ceri Nunn </a:t>
              </a:r>
              <a:r>
                <a:rPr lang="en-US" sz="1100" i="1" dirty="0"/>
                <a:t>et al</a:t>
              </a:r>
              <a:r>
                <a:rPr lang="en-US" sz="1100" dirty="0"/>
                <a:t> 2022 </a:t>
              </a:r>
              <a:r>
                <a:rPr lang="en-US" sz="1100" i="1" dirty="0"/>
                <a:t>Planet. Sci. J.</a:t>
              </a:r>
              <a:r>
                <a:rPr lang="en-US" sz="1100" dirty="0"/>
                <a:t> 3 219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2113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92839"/>
          </a:xfrm>
        </p:spPr>
        <p:txBody>
          <a:bodyPr/>
          <a:lstStyle/>
          <a:p>
            <a:r>
              <a:rPr lang="en-US" dirty="0"/>
              <a:t>Tensegrity structures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735" y="1750938"/>
            <a:ext cx="9136193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Structures comprised of bars and strings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 minimizes mass for a given loading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Actuators can control string length and string tension</a:t>
            </a:r>
          </a:p>
          <a:p>
            <a:pPr marL="742950" lvl="1" indent="-285750"/>
            <a:r>
              <a:rPr lang="en-US" dirty="0"/>
              <a:t>Can actively change structure stiffness or change the structure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D8EEF6C-D4BC-B258-7B8D-3A4FDDBFECEF}"/>
              </a:ext>
            </a:extLst>
          </p:cNvPr>
          <p:cNvGrpSpPr/>
          <p:nvPr/>
        </p:nvGrpSpPr>
        <p:grpSpPr>
          <a:xfrm>
            <a:off x="909532" y="3550561"/>
            <a:ext cx="4210156" cy="3004345"/>
            <a:chOff x="6724245" y="1554839"/>
            <a:chExt cx="4210156" cy="30043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CC179E7-ABAB-7672-2901-35FAC921C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24245" y="1554839"/>
              <a:ext cx="4210156" cy="2633299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1DB59C-8F99-D3BB-2F37-474B8EEFE4DC}"/>
                </a:ext>
              </a:extLst>
            </p:cNvPr>
            <p:cNvSpPr txBox="1"/>
            <p:nvPr/>
          </p:nvSpPr>
          <p:spPr>
            <a:xfrm>
              <a:off x="8225984" y="4282185"/>
              <a:ext cx="12066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Tensegrity prism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FD8E678-D604-1533-FCB5-FF681FC9D176}"/>
              </a:ext>
            </a:extLst>
          </p:cNvPr>
          <p:cNvGrpSpPr/>
          <p:nvPr/>
        </p:nvGrpSpPr>
        <p:grpSpPr>
          <a:xfrm>
            <a:off x="6374413" y="3550561"/>
            <a:ext cx="4196080" cy="3188198"/>
            <a:chOff x="6374413" y="3550561"/>
            <a:chExt cx="4196080" cy="3188198"/>
          </a:xfrm>
        </p:grpSpPr>
        <p:pic>
          <p:nvPicPr>
            <p:cNvPr id="10" name="Picture 9" descr="A large ship made of metal on a beach&#10;&#10;AI-generated content may be incorrect.">
              <a:extLst>
                <a:ext uri="{FF2B5EF4-FFF2-40B4-BE49-F238E27FC236}">
                  <a16:creationId xmlns:a16="http://schemas.microsoft.com/office/drawing/2014/main" id="{A5C1C9A3-3158-BA9B-0331-3DB4ABA73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74413" y="3550561"/>
              <a:ext cx="4196080" cy="2798753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83F842-D5C1-641E-2089-70A8D9E1527F}"/>
                </a:ext>
              </a:extLst>
            </p:cNvPr>
            <p:cNvSpPr txBox="1"/>
            <p:nvPr/>
          </p:nvSpPr>
          <p:spPr>
            <a:xfrm>
              <a:off x="7676684" y="6461760"/>
              <a:ext cx="15915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Theo Jansen Sculpture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3B85A-3FBF-E882-316E-DA78E3F7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E3D23A-6989-AE41-522D-26A04EAAC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79626"/>
          </a:xfrm>
        </p:spPr>
        <p:txBody>
          <a:bodyPr>
            <a:normAutofit/>
          </a:bodyPr>
          <a:lstStyle/>
          <a:p>
            <a:r>
              <a:rPr lang="en-US" dirty="0"/>
              <a:t>Structure concept - unit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38A0D-346F-3808-1AB8-84CA45CC9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105E0B-0210-EA55-44D1-137FAFA3407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736" y="1954193"/>
            <a:ext cx="4985367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Hexagonal unit</a:t>
            </a:r>
          </a:p>
          <a:p>
            <a:pPr marL="742950" lvl="1" indent="-285750"/>
            <a:r>
              <a:rPr lang="en-US" dirty="0"/>
              <a:t>Hexagonal shape allows for tessellation and has high stability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Cables in red</a:t>
            </a:r>
          </a:p>
          <a:p>
            <a:pPr marL="742950" lvl="1" indent="-285750"/>
            <a:r>
              <a:rPr lang="en-US" dirty="0"/>
              <a:t>Cables will only carry tension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Bars in black</a:t>
            </a:r>
          </a:p>
          <a:p>
            <a:pPr marL="742950" lvl="1" indent="-285750"/>
            <a:r>
              <a:rPr lang="en-US" dirty="0"/>
              <a:t>Bars can carry both tension and compression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09DA27-EA46-8E88-16BB-CA43908904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43" t="5106" r="7213" b="1"/>
          <a:stretch>
            <a:fillRect/>
          </a:stretch>
        </p:blipFill>
        <p:spPr>
          <a:xfrm>
            <a:off x="5757103" y="1675738"/>
            <a:ext cx="5457217" cy="468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301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813E-777A-C90A-272D-A8512910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347045-4D4D-D2C6-C045-05126903F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79626"/>
          </a:xfrm>
        </p:spPr>
        <p:txBody>
          <a:bodyPr>
            <a:normAutofit/>
          </a:bodyPr>
          <a:lstStyle/>
          <a:p>
            <a:r>
              <a:rPr lang="en-US" dirty="0"/>
              <a:t>Full structure concept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ABB526-FFDE-9DD9-46B6-62E393DB2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D5178-49DD-4E64-91C9-03EE57BED38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736" y="1954193"/>
            <a:ext cx="4985367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Units tessellated to create a foundation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Top nodes will carry the weight of the habitat/structure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Bottom nodes fixed to the ground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84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34060-AA34-5E48-4393-E82F82F72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9ABD-E2DF-A6B6-0DF8-E44D00774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828516"/>
          </a:xfrm>
        </p:spPr>
        <p:txBody>
          <a:bodyPr/>
          <a:lstStyle/>
          <a:p>
            <a:r>
              <a:rPr lang="en-US" dirty="0"/>
              <a:t>Dynamics formulation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593184-8DEA-9F7D-7B5E-746ADC712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6AADEB9-F807-7FF2-5D1F-757EB84F5C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1736" y="1954193"/>
                <a:ext cx="4985367" cy="35052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ts val="2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ts val="2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-228600" algn="l" defTabSz="914400" rtl="0" eaLnBrk="1" latinLnBrk="0" hangingPunct="1">
                  <a:lnSpc>
                    <a:spcPts val="2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228600" algn="l" defTabSz="914400" rtl="0" eaLnBrk="1" latinLnBrk="0" hangingPunct="1">
                  <a:lnSpc>
                    <a:spcPts val="2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-228600" algn="l" defTabSz="914400" rtl="0" eaLnBrk="1" latinLnBrk="0" hangingPunct="1">
                  <a:lnSpc>
                    <a:spcPts val="2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en-US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6AADEB9-F807-7FF2-5D1F-757EB84F5C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736" y="1954193"/>
                <a:ext cx="4985367" cy="3505200"/>
              </a:xfrm>
              <a:prstGeom prst="rect">
                <a:avLst/>
              </a:prstGeom>
              <a:blipFill>
                <a:blip r:embed="rId2"/>
                <a:stretch>
                  <a:fillRect l="-857" t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9018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2696D-8D4D-BE35-8EEC-E19250EFD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0A09C-B078-599A-8627-966894EA7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782217"/>
          </a:xfrm>
        </p:spPr>
        <p:txBody>
          <a:bodyPr/>
          <a:lstStyle/>
          <a:p>
            <a:r>
              <a:rPr lang="en-US" dirty="0"/>
              <a:t>Modeling - Assumptions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DF2117-2AFB-F034-62F9-86D7A8E49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A606FD-D4E9-C710-B7F6-7620351DE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7785" y="1930400"/>
            <a:ext cx="3305636" cy="3734321"/>
          </a:xfrm>
          <a:prstGeom prst="rect">
            <a:avLst/>
          </a:prstGeom>
        </p:spPr>
      </p:pic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FC399E90-0B15-8988-C6B2-294BF5CCE0A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525" y="1930400"/>
            <a:ext cx="4514850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Small displacements</a:t>
            </a:r>
          </a:p>
          <a:p>
            <a:pPr marL="742950" lvl="1" indent="-285750"/>
            <a:r>
              <a:rPr lang="en-US" dirty="0"/>
              <a:t>Bars and strings is assumed to be linear elastic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Axial load members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Ground nodes fixed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513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868A0-AE98-12A8-65D6-231BC3CF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5BAE-C95D-8843-06EF-46AEB2108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Design: framework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39539A-F717-2AE8-9407-42E84EBC0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B12A32-B4D2-2699-A2A6-C0F02A8E0CD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736" y="1954193"/>
            <a:ext cx="5177651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State is the nodal coordinates and nodal velocities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 variables are the grouped string tensions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Goal is to minimize the top nodal displacements under a moonquake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 state-space from the model dynamics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22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2EA96-15E1-EE16-3380-EF7BABC6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F6736-C960-BDA5-AE89-F9E2B0570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828516"/>
          </a:xfrm>
        </p:spPr>
        <p:txBody>
          <a:bodyPr/>
          <a:lstStyle/>
          <a:p>
            <a:r>
              <a:rPr lang="en-US" dirty="0"/>
              <a:t>Control Design: Optimal Control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5EB7AE-60ED-536A-F45D-B029EC7F6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FC93A9-BA05-6C31-F8CE-A6A35D42E42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736" y="1954193"/>
            <a:ext cx="5177651" cy="35052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Continuous time LQR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Solve continuous algebraic </a:t>
            </a:r>
            <a:r>
              <a:rPr lang="en-US" dirty="0" err="1"/>
              <a:t>Riccati</a:t>
            </a:r>
            <a:r>
              <a:rPr lang="en-US" dirty="0"/>
              <a:t> equation to get S, then get K, then u=-K*x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689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9B43C-07EB-33E5-22FF-38A15E214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BF197-4DE2-CC07-BDF5-392A82FFE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1"/>
            <a:ext cx="9389288" cy="782217"/>
          </a:xfrm>
        </p:spPr>
        <p:txBody>
          <a:bodyPr>
            <a:normAutofit/>
          </a:bodyPr>
          <a:lstStyle/>
          <a:p>
            <a:r>
              <a:rPr lang="en-US" dirty="0"/>
              <a:t>Future 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91D3F-159C-FB7D-E0FB-38BABCDA9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3F86A-6348-FF33-4FC5-9D6A8D3B433B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736" y="1861595"/>
            <a:ext cx="4515035" cy="35052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Finalize dynamics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and tune LQR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controlled vs uncontrolled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Extend to non-linear model</a:t>
            </a:r>
          </a:p>
        </p:txBody>
      </p:sp>
    </p:spTree>
    <p:extLst>
      <p:ext uri="{BB962C8B-B14F-4D97-AF65-F5344CB8AC3E}">
        <p14:creationId xmlns:p14="http://schemas.microsoft.com/office/powerpoint/2010/main" val="2056850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65614A-92F9-4391-AC3D-F3F5B0704F9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255</TotalTime>
  <Words>290</Words>
  <Application>Microsoft Office PowerPoint</Application>
  <PresentationFormat>Widescreen</PresentationFormat>
  <Paragraphs>100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2013 - 2022 Theme</vt:lpstr>
      <vt:lpstr>Active tensegrity-based foundation for moonquake rejection</vt:lpstr>
      <vt:lpstr>Motivation</vt:lpstr>
      <vt:lpstr>Tensegrity structures</vt:lpstr>
      <vt:lpstr>Structure concept - unit</vt:lpstr>
      <vt:lpstr>Full structure concept</vt:lpstr>
      <vt:lpstr>Dynamics formulation</vt:lpstr>
      <vt:lpstr>Modeling - Assumptions</vt:lpstr>
      <vt:lpstr>Control Design: framework</vt:lpstr>
      <vt:lpstr>Control Design: Optimal Control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Risi Mortola, Piero L</dc:creator>
  <cp:lastModifiedBy>Piero Risi Mortola</cp:lastModifiedBy>
  <cp:revision>3</cp:revision>
  <dcterms:created xsi:type="dcterms:W3CDTF">2025-12-03T00:40:42Z</dcterms:created>
  <dcterms:modified xsi:type="dcterms:W3CDTF">2025-12-03T06:19:25Z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