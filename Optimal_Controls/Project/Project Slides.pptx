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3" r:id="rId6"/>
    <p:sldId id="268" r:id="rId7"/>
    <p:sldId id="297" r:id="rId8"/>
    <p:sldId id="298" r:id="rId9"/>
    <p:sldId id="300" r:id="rId10"/>
    <p:sldId id="299" r:id="rId11"/>
    <p:sldId id="301" r:id="rId12"/>
    <p:sldId id="302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3204" autoAdjust="0"/>
  </p:normalViewPr>
  <p:slideViewPr>
    <p:cSldViewPr snapToGrid="0">
      <p:cViewPr varScale="1">
        <p:scale>
          <a:sx n="103" d="100"/>
          <a:sy n="103" d="100"/>
        </p:scale>
        <p:origin x="798" y="108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C16A5-FAAD-353D-8F9D-69DDE9EF7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85CB7-85B4-69B5-58EA-EF48E8848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1C0F8-C3AA-FA26-6894-844B075BC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DFBC4-4DBE-0EDA-B6E0-59F811D7B0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314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26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807C-8D6B-37A7-6A94-2C368DDF4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251BA-C709-EC04-ACFF-9305738070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27635-9A56-D51C-09F5-ACA8100B1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8B11C-A7DD-2BF3-4937-967F4BCF72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800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25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5.png"/><Relationship Id="rId4" Type="http://schemas.openxmlformats.org/officeDocument/2006/relationships/image" Target="../media/image14.png"/><Relationship Id="rId9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4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3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14772" y="677918"/>
            <a:ext cx="6856292" cy="3590596"/>
          </a:xfrm>
        </p:spPr>
        <p:txBody>
          <a:bodyPr>
            <a:normAutofit/>
          </a:bodyPr>
          <a:lstStyle/>
          <a:p>
            <a:r>
              <a:rPr lang="en-US" dirty="0"/>
              <a:t>Tensegrity lunar foundation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A9515-1637-3F86-AB5F-F9CD63E23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C54DA1-37A6-60E1-33E5-D36945B17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1362456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882F07-6FA2-E324-1299-7C0F03C8FAD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2590800"/>
            <a:ext cx="5814102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global interest on lunar exploration and permanent lunar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Minimize weight of lunar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Moon-quakes can be long lasting, often for hours, though much weaker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ABC99-5E02-B8A8-2ACD-967F071C9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3" name="Picture 2" descr="A logo with a letter a and a sphere&#10;&#10;AI-generated content may be incorrect.">
            <a:extLst>
              <a:ext uri="{FF2B5EF4-FFF2-40B4-BE49-F238E27FC236}">
                <a16:creationId xmlns:a16="http://schemas.microsoft.com/office/drawing/2014/main" id="{5443AA45-CB05-E8FE-A06F-5977EA754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561" y="525902"/>
            <a:ext cx="2497655" cy="2308250"/>
          </a:xfrm>
          <a:prstGeom prst="rect">
            <a:avLst/>
          </a:prstGeom>
        </p:spPr>
      </p:pic>
      <p:pic>
        <p:nvPicPr>
          <p:cNvPr id="9" name="Picture 8" descr="A few sound waves showing different types of weather&#10;&#10;AI-generated content may be incorrect.">
            <a:extLst>
              <a:ext uri="{FF2B5EF4-FFF2-40B4-BE49-F238E27FC236}">
                <a16:creationId xmlns:a16="http://schemas.microsoft.com/office/drawing/2014/main" id="{41741DFF-C2BE-BB4A-039F-6F49DE0464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627" y="3691867"/>
            <a:ext cx="3973524" cy="25046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448688-B342-4E40-374C-00288A7FDFDA}"/>
              </a:ext>
            </a:extLst>
          </p:cNvPr>
          <p:cNvSpPr txBox="1"/>
          <p:nvPr/>
        </p:nvSpPr>
        <p:spPr>
          <a:xfrm>
            <a:off x="6509533" y="6196557"/>
            <a:ext cx="2775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Ceri Nunn </a:t>
            </a:r>
            <a:r>
              <a:rPr lang="en-US" sz="1100" i="1" dirty="0"/>
              <a:t>et al</a:t>
            </a:r>
            <a:r>
              <a:rPr lang="en-US" sz="1100" dirty="0"/>
              <a:t> 2022 </a:t>
            </a:r>
            <a:r>
              <a:rPr lang="en-US" sz="1100" i="1" dirty="0"/>
              <a:t>Planet. Sci. J.</a:t>
            </a:r>
            <a:r>
              <a:rPr lang="en-US" sz="1100" dirty="0"/>
              <a:t> 3 219</a:t>
            </a:r>
          </a:p>
        </p:txBody>
      </p:sp>
    </p:spTree>
    <p:extLst>
      <p:ext uri="{BB962C8B-B14F-4D97-AF65-F5344CB8AC3E}">
        <p14:creationId xmlns:p14="http://schemas.microsoft.com/office/powerpoint/2010/main" val="52113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1362456"/>
          </a:xfrm>
        </p:spPr>
        <p:txBody>
          <a:bodyPr/>
          <a:lstStyle/>
          <a:p>
            <a:r>
              <a:rPr lang="en-US" dirty="0"/>
              <a:t>Tensegrity structures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2590800"/>
            <a:ext cx="5814102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Tensegrity design paradigm – optimize for minimal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Structure made of bars and strings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Strings can be controlled: change lengths or change tension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deployable structures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3B85A-3FBF-E882-316E-DA78E3F7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E3D23A-6989-AE41-522D-26A04EAAC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1362456"/>
          </a:xfrm>
        </p:spPr>
        <p:txBody>
          <a:bodyPr/>
          <a:lstStyle/>
          <a:p>
            <a:r>
              <a:rPr lang="en-US" dirty="0"/>
              <a:t>Structure concept - unit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105E0B-0210-EA55-44D1-137FAFA3407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2590800"/>
            <a:ext cx="5814102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38A0D-346F-3808-1AB8-84CA45CC9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09DA27-EA46-8E88-16BB-CA43908904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43" t="5106" r="7213" b="1"/>
          <a:stretch>
            <a:fillRect/>
          </a:stretch>
        </p:blipFill>
        <p:spPr>
          <a:xfrm>
            <a:off x="4703807" y="1793564"/>
            <a:ext cx="5457217" cy="468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301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16E77-8ABC-0C27-EFE8-A09879B80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structure concept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BF6C1C-7552-67C0-D61D-7A62732D8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C3562F-2B9C-B3A6-12B6-B00EDC919CE3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D0891F-0AE2-11C5-5172-368F798F348D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653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34060-AA34-5E48-4393-E82F82F72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9ABD-E2DF-A6B6-0DF8-E44D00774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Dynamics formulation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593184-8DEA-9F7D-7B5E-746ADC712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6A61E-110D-FE24-65EE-C5D331EF757B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614E28-FADA-6496-370F-33D882CCFB4E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18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696D-8D4D-BE35-8EEC-E19250EFD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0A09C-B078-599A-8627-966894EA7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- Assumptions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DF2117-2AFB-F034-62F9-86D7A8E49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E1273-6D64-D7A7-1A49-AE2674426BEC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5F58C6E-B955-B3B9-73F5-519801CCD0D7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513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868A0-AE98-12A8-65D6-231BC3CF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5BAE-C95D-8843-06EF-46AEB2108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Control framework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39539A-F717-2AE8-9407-42E84EBC0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967391-FB48-C86E-A836-547ACEF63D13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197B3B-0520-6CD4-134F-0967C10C94FE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22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9B43C-07EB-33E5-22FF-38A15E214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F197-4DE2-CC07-BDF5-392A82FFE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91D3F-159C-FB7D-E0FB-38BABCDA9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3F86A-6348-FF33-4FC5-9D6A8D3B433B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C496C3-DF01-6462-CC32-8FD4222BEB6D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50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245" y="544285"/>
            <a:ext cx="5528217" cy="2685383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96340" y="3423773"/>
            <a:ext cx="5528217" cy="2029969"/>
          </a:xfrm>
        </p:spPr>
        <p:txBody>
          <a:bodyPr bIns="0">
            <a:normAutofit lnSpcReduction="10000"/>
          </a:bodyPr>
          <a:lstStyle/>
          <a:p>
            <a:r>
              <a:rPr lang="en-US" dirty="0"/>
              <a:t>Brita Tamm​</a:t>
            </a:r>
          </a:p>
          <a:p>
            <a:r>
              <a:rPr lang="en-US" dirty="0"/>
              <a:t>502-555-0152​</a:t>
            </a:r>
          </a:p>
          <a:p>
            <a:r>
              <a:rPr lang="en-US" dirty="0"/>
              <a:t>brita@firstupconsultants.com​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{DAD70E30-4349-441F-B8FB-71B43359C289}TF55c86556-70ea-476e-aa05-13a38f2d5b0da1381d77_win32-a3c664429073</Template>
  <TotalTime>68</TotalTime>
  <Words>126</Words>
  <Application>Microsoft Office PowerPoint</Application>
  <PresentationFormat>Widescreen</PresentationFormat>
  <Paragraphs>55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Avenir Next LT Pro</vt:lpstr>
      <vt:lpstr>Calibri</vt:lpstr>
      <vt:lpstr>Custom</vt:lpstr>
      <vt:lpstr>Tensegrity lunar foundation</vt:lpstr>
      <vt:lpstr>Motivation</vt:lpstr>
      <vt:lpstr>Tensegrity structures</vt:lpstr>
      <vt:lpstr>Structure concept - unit</vt:lpstr>
      <vt:lpstr>Full structure concept</vt:lpstr>
      <vt:lpstr>Dynamics formulation</vt:lpstr>
      <vt:lpstr>Modeling - Assumptions</vt:lpstr>
      <vt:lpstr>Optimal Control framework</vt:lpstr>
      <vt:lpstr>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Risi Mortola, Piero L</dc:creator>
  <cp:lastModifiedBy>Risi Mortola, Piero L</cp:lastModifiedBy>
  <cp:revision>2</cp:revision>
  <dcterms:created xsi:type="dcterms:W3CDTF">2025-12-03T00:40:42Z</dcterms:created>
  <dcterms:modified xsi:type="dcterms:W3CDTF">2025-12-03T02:10:56Z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